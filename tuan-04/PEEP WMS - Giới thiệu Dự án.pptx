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100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1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49400"/>
            <a:ext cx="10566400" cy="449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100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1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49400"/>
            <a:ext cx="10566400" cy="449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spc="200" kern="0" dirty="0">
                <a:solidFill>
                  <a:srgbClr val="0B254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WAREHOUSE MANAGEMENT SYSTEM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19200"/>
            <a:ext cx="981075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000" b="1" i="0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Hệ thống Quản lý</a:t>
            </a:r>
            <a:endParaRPr lang="en-US" sz="5000" dirty="0"/>
          </a:p>
          <a:p>
            <a:pPr algn="l" indent="0" marL="0">
              <a:lnSpc>
                <a:spcPts val="5400"/>
              </a:lnSpc>
              <a:buNone/>
            </a:pPr>
            <a:r>
              <a:rPr lang="en-US" sz="5000" b="1" i="0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Kho Thông minh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12800" y="2768600"/>
            <a:ext cx="7521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51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Số hóa và tự động hóa toàn bộ quy trình vận hành kho bãi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5975" y="4759325"/>
            <a:ext cx="5175250" cy="1282700"/>
          </a:xfrm>
          <a:prstGeom prst="roundRect">
            <a:avLst>
              <a:gd name="adj" fmla="val 7673"/>
            </a:avLst>
          </a:prstGeom>
          <a:solidFill>
            <a:srgbClr val="EEF3FA"/>
          </a:solidFill>
          <a:ln w="6350">
            <a:solidFill>
              <a:srgbClr val="DB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3150" y="5016500"/>
            <a:ext cx="480072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Mục tiêu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3150" y="5327650"/>
            <a:ext cx="480072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Số hóa &amp; tự động hóa quy trình Nhập – Xuất – Chuyển – Kiểm kê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00775" y="4759325"/>
            <a:ext cx="5175250" cy="1282700"/>
          </a:xfrm>
          <a:prstGeom prst="roundRect">
            <a:avLst>
              <a:gd name="adj" fmla="val 7673"/>
            </a:avLst>
          </a:prstGeom>
          <a:solidFill>
            <a:srgbClr val="EEF3FA"/>
          </a:solidFill>
          <a:ln w="6350">
            <a:solidFill>
              <a:srgbClr val="DB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7950" y="5016500"/>
            <a:ext cx="480072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Định hướng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57950" y="5327650"/>
            <a:ext cx="480072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3341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Toàn vẹn dữ liệu (Data Integrity) tuyệt đối, truy xuất nguồn gốc tồn kho minh bạch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i="0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Công nghệ &amp; Kiến trúc Hệ thống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815975" y="1527175"/>
            <a:ext cx="3380284" cy="1631950"/>
          </a:xfrm>
          <a:prstGeom prst="roundRect">
            <a:avLst>
              <a:gd name="adj" fmla="val 6031"/>
            </a:avLst>
          </a:prstGeom>
          <a:solidFill>
            <a:srgbClr val="EEF3FA"/>
          </a:solidFill>
          <a:ln w="6350">
            <a:solidFill>
              <a:srgbClr val="DB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784350"/>
            <a:ext cx="29519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3150" y="2114550"/>
            <a:ext cx="295191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C2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NestJS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C2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TypeScript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C2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Prisma ORM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05809" y="1527175"/>
            <a:ext cx="3380284" cy="1631950"/>
          </a:xfrm>
          <a:prstGeom prst="roundRect">
            <a:avLst>
              <a:gd name="adj" fmla="val 6031"/>
            </a:avLst>
          </a:prstGeom>
          <a:solidFill>
            <a:srgbClr val="EEF3FA"/>
          </a:solidFill>
          <a:ln w="6350">
            <a:solidFill>
              <a:srgbClr val="DB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984" y="1784350"/>
            <a:ext cx="29519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2984" y="2114550"/>
            <a:ext cx="295191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C2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ReactJS / Next.js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C2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React Query</a:t>
            </a:r>
            <a:endParaRPr lang="en-US" sz="12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C2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TailwindCSS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995642" y="1527175"/>
            <a:ext cx="3380284" cy="1631950"/>
          </a:xfrm>
          <a:prstGeom prst="roundRect">
            <a:avLst>
              <a:gd name="adj" fmla="val 6031"/>
            </a:avLst>
          </a:prstGeom>
          <a:solidFill>
            <a:srgbClr val="EEF3FA"/>
          </a:solidFill>
          <a:ln w="6350">
            <a:solidFill>
              <a:srgbClr val="DB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817" y="1784350"/>
            <a:ext cx="29519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Cơ sở dữ liệu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52817" y="2114550"/>
            <a:ext cx="295191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C2A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PostgreSQL / MySQL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52817" y="2470150"/>
            <a:ext cx="295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Hệ quản trị CSDL quan hệ, tối ưu hóa Transaction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2800" y="3441700"/>
            <a:ext cx="5181600" cy="2400300"/>
          </a:xfrm>
          <a:prstGeom prst="roundRect">
            <a:avLst>
              <a:gd name="adj" fmla="val 4233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4391025"/>
            <a:ext cx="4813808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API-First &amp; Modular Design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66800" y="4676775"/>
            <a:ext cx="481380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C3D1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Kiến trúc module hóa, mọi nghiệp vụ expose qua API rõ ràng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7600" y="3441700"/>
            <a:ext cx="5181600" cy="2400300"/>
          </a:xfrm>
          <a:prstGeom prst="roundRect">
            <a:avLst>
              <a:gd name="adj" fmla="val 4233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51600" y="4391025"/>
            <a:ext cx="4813808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Ledger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51600" y="4676775"/>
            <a:ext cx="4813808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C3D1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Phễu tính toán tồn kho tập trung cho toàn hệ thống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2800" y="6242050"/>
            <a:ext cx="96762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94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PEEP WMS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11009" y="6242050"/>
            <a:ext cx="76819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94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 / 06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i="0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Giải pháp Kỹ thuật Cốt lõi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812800" y="2454275"/>
            <a:ext cx="10566400" cy="0"/>
          </a:xfrm>
          <a:prstGeom prst="line">
            <a:avLst/>
          </a:prstGeom>
          <a:noFill/>
          <a:ln w="6350">
            <a:solidFill>
              <a:srgbClr val="DB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1562100"/>
            <a:ext cx="93980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2900" b="1" dirty="0">
                <a:solidFill>
                  <a:srgbClr val="0B254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01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006600" y="1562100"/>
            <a:ext cx="96537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Optimistic Locking (Khóa lạc quan)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06600" y="1866900"/>
            <a:ext cx="965377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Xử lý triệt để bài toán đồng thời (Concurrency) — chặn đứng việc 2 nhân viên cùng xuất 1 món hàng gây âm kho (Lỗi 409 Conflict).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2800" y="4264025"/>
            <a:ext cx="10566400" cy="0"/>
          </a:xfrm>
          <a:prstGeom prst="line">
            <a:avLst/>
          </a:prstGeom>
          <a:noFill/>
          <a:ln w="6350">
            <a:solidFill>
              <a:srgbClr val="DB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3371850"/>
            <a:ext cx="93980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2900" b="1" dirty="0">
                <a:solidFill>
                  <a:srgbClr val="0B254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02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2006600" y="3371850"/>
            <a:ext cx="96537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Ledger-Driven Inventory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06600" y="3676650"/>
            <a:ext cx="965377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Mọi biến động tồn kho không sửa trực tiếp mà chạy qua một Phễu trung tâm (InventoryLedgerService) để ghi nhận lịch sử minh bạch.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5181600"/>
            <a:ext cx="93980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060"/>
              </a:lnSpc>
              <a:buNone/>
            </a:pPr>
            <a:r>
              <a:rPr lang="en-US" sz="2900" b="1" dirty="0">
                <a:solidFill>
                  <a:srgbClr val="0B254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2006600" y="5181600"/>
            <a:ext cx="96537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RBAC Matrix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06600" y="5486400"/>
            <a:ext cx="965377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Hệ thống phân quyền động, kiểm tra quyền (Permissions) cực chi tiết trên từng API Endpoint.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6242050"/>
            <a:ext cx="96762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94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PEEP WMS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11009" y="6242050"/>
            <a:ext cx="76819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94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03 / 06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36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96"/>
              </a:lnSpc>
              <a:buNone/>
            </a:pPr>
            <a:r>
              <a:rPr lang="en-US" sz="2451" b="1" i="0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Vai trò vận hành (RBAC)</a:t>
            </a:r>
            <a:endParaRPr lang="en-US" sz="2451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389063"/>
          <a:ext cx="10553700" cy="4452938"/>
        </p:xfrm>
        <a:graphic>
          <a:graphicData uri="http://schemas.openxmlformats.org/drawingml/2006/table">
            <a:tbl>
              <a:tblPr/>
              <a:tblGrid>
                <a:gridCol w="5276850"/>
                <a:gridCol w="5276850"/>
              </a:tblGrid>
              <a:tr h="494705">
                <a:tc>
                  <a:txBody>
                    <a:bodyPr/>
                    <a:lstStyle/>
                    <a:p>
                      <a:pPr indent="0" marL="0">
                        <a:lnSpc>
                          <a:spcPts val="1974"/>
                        </a:lnSpc>
                        <a:buNone/>
                      </a:pPr>
                      <a:r>
                        <a:rPr lang="en-US" sz="1410" b="1" dirty="0">
                          <a:solidFill>
                            <a:srgbClr val="51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VAI TRÒ</a:t>
                      </a:r>
                      <a:endParaRPr lang="en-US" sz="14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7950" marB="1079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74"/>
                        </a:lnSpc>
                        <a:buNone/>
                      </a:pPr>
                      <a:r>
                        <a:rPr lang="en-US" sz="1410" b="1" dirty="0">
                          <a:solidFill>
                            <a:srgbClr val="51607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TRÁCH NHIỆM CHÍNH</a:t>
                      </a:r>
                      <a:endParaRPr lang="en-US" sz="14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7950" marB="107950" anchor="t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94705">
                <a:tc>
                  <a:txBody>
                    <a:bodyPr/>
                    <a:lstStyle/>
                    <a:p>
                      <a:pPr indent="0" marL="0">
                        <a:lnSpc>
                          <a:spcPts val="1974"/>
                        </a:lnSpc>
                        <a:buNone/>
                      </a:pPr>
                      <a:r>
                        <a:rPr lang="en-US" sz="1410" dirty="0">
                          <a:solidFill>
                            <a:srgbClr val="0B254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ADMIN</a:t>
                      </a:r>
                      <a:endParaRPr lang="en-US" sz="14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7950" marB="1079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74"/>
                        </a:lnSpc>
                        <a:buNone/>
                      </a:pPr>
                      <a:r>
                        <a:rPr lang="en-US" sz="1410" dirty="0">
                          <a:solidFill>
                            <a:srgbClr val="1C2A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Toàn quyền hệ thống, quản lý User &amp; Role</a:t>
                      </a:r>
                      <a:endParaRPr lang="en-US" sz="14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7950" marB="1079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355">
                <a:tc>
                  <a:txBody>
                    <a:bodyPr/>
                    <a:lstStyle/>
                    <a:p>
                      <a:pPr indent="0" marL="0">
                        <a:lnSpc>
                          <a:spcPts val="1974"/>
                        </a:lnSpc>
                        <a:buNone/>
                      </a:pPr>
                      <a:r>
                        <a:rPr lang="en-US" sz="1410" dirty="0">
                          <a:solidFill>
                            <a:srgbClr val="0B254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WH_MANAGER</a:t>
                      </a:r>
                      <a:endParaRPr lang="en-US" sz="14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7950" marB="1079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74"/>
                        </a:lnSpc>
                        <a:buNone/>
                      </a:pPr>
                      <a:r>
                        <a:rPr lang="en-US" sz="1410" dirty="0">
                          <a:solidFill>
                            <a:srgbClr val="1C2A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Quản trị kho tổng, Master Data, phê duyệt xuất/nhập/điều chỉnh/chuyển kho</a:t>
                      </a:r>
                      <a:endParaRPr lang="en-US" sz="14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7950" marB="1079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4705">
                <a:tc>
                  <a:txBody>
                    <a:bodyPr/>
                    <a:lstStyle/>
                    <a:p>
                      <a:pPr indent="0" marL="0">
                        <a:lnSpc>
                          <a:spcPts val="1974"/>
                        </a:lnSpc>
                        <a:buNone/>
                      </a:pPr>
                      <a:r>
                        <a:rPr lang="en-US" sz="1410" dirty="0">
                          <a:solidFill>
                            <a:srgbClr val="0B254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SUPERVISOR</a:t>
                      </a:r>
                      <a:endParaRPr lang="en-US" sz="14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7950" marB="1079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74"/>
                        </a:lnSpc>
                        <a:buNone/>
                      </a:pPr>
                      <a:r>
                        <a:rPr lang="en-US" sz="1410" dirty="0">
                          <a:solidFill>
                            <a:srgbClr val="1C2A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Điều phối task, giao việc cho nhân viên, tạo đợt kiểm kê</a:t>
                      </a:r>
                      <a:endParaRPr lang="en-US" sz="14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7950" marB="1079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355">
                <a:tc>
                  <a:txBody>
                    <a:bodyPr/>
                    <a:lstStyle/>
                    <a:p>
                      <a:pPr indent="0" marL="0">
                        <a:lnSpc>
                          <a:spcPts val="1974"/>
                        </a:lnSpc>
                        <a:buNone/>
                      </a:pPr>
                      <a:r>
                        <a:rPr lang="en-US" sz="1410" dirty="0">
                          <a:solidFill>
                            <a:srgbClr val="0B254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RECEIVER</a:t>
                      </a:r>
                      <a:endParaRPr lang="en-US" sz="14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7950" marB="1079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74"/>
                        </a:lnSpc>
                        <a:buNone/>
                      </a:pPr>
                      <a:r>
                        <a:rPr lang="en-US" sz="1410" dirty="0">
                          <a:solidFill>
                            <a:srgbClr val="1C2A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Nghiệp vụ Inbound: nhận hàng từ NCC và cất lên kệ (Putaway)</a:t>
                      </a:r>
                      <a:endParaRPr lang="en-US" sz="14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7950" marB="1079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4705">
                <a:tc>
                  <a:txBody>
                    <a:bodyPr/>
                    <a:lstStyle/>
                    <a:p>
                      <a:pPr indent="0" marL="0">
                        <a:lnSpc>
                          <a:spcPts val="1974"/>
                        </a:lnSpc>
                        <a:buNone/>
                      </a:pPr>
                      <a:r>
                        <a:rPr lang="en-US" sz="1410" dirty="0">
                          <a:solidFill>
                            <a:srgbClr val="0B254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PICKER</a:t>
                      </a:r>
                      <a:endParaRPr lang="en-US" sz="14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7950" marB="1079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74"/>
                        </a:lnSpc>
                        <a:buNone/>
                      </a:pPr>
                      <a:r>
                        <a:rPr lang="en-US" sz="1410" dirty="0">
                          <a:solidFill>
                            <a:srgbClr val="1C2A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Nghiệp vụ Outbound: nhặt hàng theo phiếu xuất (Pick task)</a:t>
                      </a:r>
                      <a:endParaRPr lang="en-US" sz="14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7950" marB="1079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4705">
                <a:tc>
                  <a:txBody>
                    <a:bodyPr/>
                    <a:lstStyle/>
                    <a:p>
                      <a:pPr indent="0" marL="0">
                        <a:lnSpc>
                          <a:spcPts val="1974"/>
                        </a:lnSpc>
                        <a:buNone/>
                      </a:pPr>
                      <a:r>
                        <a:rPr lang="en-US" sz="1410" dirty="0">
                          <a:solidFill>
                            <a:srgbClr val="0B254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INSPECTOR</a:t>
                      </a:r>
                      <a:endParaRPr lang="en-US" sz="14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7950" marB="1079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74"/>
                        </a:lnSpc>
                        <a:buNone/>
                      </a:pPr>
                      <a:r>
                        <a:rPr lang="en-US" sz="1410" dirty="0">
                          <a:solidFill>
                            <a:srgbClr val="1C2A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Đếm số lượng thực tế, đề xuất điều chỉnh chênh lệch</a:t>
                      </a:r>
                      <a:endParaRPr lang="en-US" sz="14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7950" marB="1079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4705">
                <a:tc>
                  <a:txBody>
                    <a:bodyPr/>
                    <a:lstStyle/>
                    <a:p>
                      <a:pPr indent="0" marL="0">
                        <a:lnSpc>
                          <a:spcPts val="1974"/>
                        </a:lnSpc>
                        <a:buNone/>
                      </a:pPr>
                      <a:r>
                        <a:rPr lang="en-US" sz="1410" dirty="0">
                          <a:solidFill>
                            <a:srgbClr val="0B254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VIEWER</a:t>
                      </a:r>
                      <a:endParaRPr lang="en-US" sz="14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7950" marB="1079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74"/>
                        </a:lnSpc>
                        <a:buNone/>
                      </a:pPr>
                      <a:r>
                        <a:rPr lang="en-US" sz="1410" dirty="0">
                          <a:solidFill>
                            <a:srgbClr val="1C2A3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Chỉ xem (Read-only) để báo giá và kiểm tra lượng tồn</a:t>
                      </a:r>
                      <a:endParaRPr lang="en-US" sz="141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27000" marR="127000" marT="107950" marB="10795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42050"/>
            <a:ext cx="96762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94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PEEP WMS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611009" y="6242050"/>
            <a:ext cx="76819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94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04 / 06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i="0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Luồng Nhập - Xuất Cơ Bản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815975" y="1552575"/>
            <a:ext cx="5149850" cy="4286250"/>
          </a:xfrm>
          <a:prstGeom prst="roundRect">
            <a:avLst>
              <a:gd name="adj" fmla="val 2296"/>
            </a:avLst>
          </a:prstGeom>
          <a:solidFill>
            <a:srgbClr val="EEF3FA"/>
          </a:solidFill>
          <a:ln w="6350">
            <a:solidFill>
              <a:srgbClr val="DB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950" y="1860550"/>
            <a:ext cx="466991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📥 Luồng Nhập kho (Inbound)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23950" y="2266950"/>
            <a:ext cx="4669917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Tạo Phiếu Nhập → Supervisor phân công → Receiver xác nhận nhận hàng → Cất lên kệ (Putaway)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26175" y="1552575"/>
            <a:ext cx="5149850" cy="4286250"/>
          </a:xfrm>
          <a:prstGeom prst="roundRect">
            <a:avLst>
              <a:gd name="adj" fmla="val 2296"/>
            </a:avLst>
          </a:prstGeom>
          <a:solidFill>
            <a:srgbClr val="EEF3FA"/>
          </a:solidFill>
          <a:ln w="6350">
            <a:solidFill>
              <a:srgbClr val="DB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4150" y="1860550"/>
            <a:ext cx="466991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📤 Luồng Xuất kho (Outbound)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34150" y="2266950"/>
            <a:ext cx="4669917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3341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Tạo Yêu cầu → Giữ chỗ (Reserve) → Phân công Picker → Nhặt hàng sang STAGING → Chốt Giao bưu (Dispatch)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4150" y="2940050"/>
            <a:ext cx="466991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Chống xuất lố hàng, gợi ý FEFO (Hết hạn trước xuất trước)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2800" y="6242050"/>
            <a:ext cx="96762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94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PEEP WMS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11009" y="6242050"/>
            <a:ext cx="76819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94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05 / 06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10"/>
              </a:lnSpc>
              <a:buNone/>
            </a:pPr>
            <a:r>
              <a:rPr lang="en-US" sz="3100" b="1" i="0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Vận hành Nội bộ &amp; Xử lý Ngoại lệ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815975" y="1476375"/>
            <a:ext cx="3380284" cy="4362450"/>
          </a:xfrm>
          <a:prstGeom prst="roundRect">
            <a:avLst>
              <a:gd name="adj" fmla="val 2912"/>
            </a:avLst>
          </a:prstGeom>
          <a:solidFill>
            <a:srgbClr val="EEF3FA"/>
          </a:solidFill>
          <a:ln w="6350">
            <a:solidFill>
              <a:srgbClr val="DB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733550"/>
            <a:ext cx="29519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🔄 Chuyển kho (Transfer)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73150" y="2076450"/>
            <a:ext cx="2951912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Chuyển hàng giữa các kho vật lý. Gồm 2 vế độc lập: Kho A chốt gửi → Kho B duyệt và chốt nhận.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05809" y="1476375"/>
            <a:ext cx="3380284" cy="4362450"/>
          </a:xfrm>
          <a:prstGeom prst="roundRect">
            <a:avLst>
              <a:gd name="adj" fmla="val 2912"/>
            </a:avLst>
          </a:prstGeom>
          <a:solidFill>
            <a:srgbClr val="EEF3FA"/>
          </a:solidFill>
          <a:ln w="6350">
            <a:solidFill>
              <a:srgbClr val="DB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984" y="1733550"/>
            <a:ext cx="29519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📝 Kiểm kê &amp; Điều chỉnh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2984" y="2076450"/>
            <a:ext cx="2951912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Kiểm kê định kỳ, so khớp Tồn kho thực tế (Actual) vs Hệ thống (System). 2 bước: Inspector đề xuất → Manager phê duyệt.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995642" y="1476375"/>
            <a:ext cx="3380284" cy="4362450"/>
          </a:xfrm>
          <a:prstGeom prst="roundRect">
            <a:avLst>
              <a:gd name="adj" fmla="val 2912"/>
            </a:avLst>
          </a:prstGeom>
          <a:solidFill>
            <a:srgbClr val="EEF3FA"/>
          </a:solidFill>
          <a:ln w="6350">
            <a:solidFill>
              <a:srgbClr val="DB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817" y="1733550"/>
            <a:ext cx="29519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B25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⏪ Bút toán đảo (Reversal)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52817" y="2076450"/>
            <a:ext cx="2951912" cy="73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dirty="0">
                <a:solidFill>
                  <a:srgbClr val="3341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Tính năng "Undo": chỉ cho phép Admin/Manager đảo chứng từ khi phát hiện sai sót.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6242050"/>
            <a:ext cx="96762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94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PEEP WMS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11009" y="6242050"/>
            <a:ext cx="76819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694A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06 / 06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EP WMS - Giới thiệu Dự án">
  <a:themeElements>
    <a:clrScheme name="PEEP WMS - Giới thiệu Dự án">
      <a:dk1>
        <a:srgbClr val="0B2545"/>
      </a:dk1>
      <a:lt1>
        <a:srgbClr val="FFFFFF"/>
      </a:lt1>
      <a:dk2>
        <a:srgbClr val="485C74"/>
      </a:dk2>
      <a:lt2>
        <a:srgbClr val="E7E9EC"/>
      </a:lt2>
      <a:accent1>
        <a:srgbClr val="33415A"/>
      </a:accent1>
      <a:accent2>
        <a:srgbClr val="51607A"/>
      </a:accent2>
      <a:accent3>
        <a:srgbClr val="8694AB"/>
      </a:accent3>
      <a:accent4>
        <a:srgbClr val="C3D1E4"/>
      </a:accent4>
      <a:accent5>
        <a:srgbClr val="9AA0A6"/>
      </a:accent5>
      <a:accent6>
        <a:srgbClr val="6D7C8F"/>
      </a:accent6>
      <a:hlink>
        <a:srgbClr val="0563C1"/>
      </a:hlink>
      <a:folHlink>
        <a:srgbClr val="954F72"/>
      </a:folHlink>
    </a:clrScheme>
    <a:fontScheme name="PEEP WMS - Giới thiệu Dự án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PEEP WMS - Giới thiệu Dự án</dc:title>
  <dc:subject/>
  <dc:creator/>
  <cp:lastModifiedBy/>
  <cp:revision>1</cp:revision>
  <dcterms:created xsi:type="dcterms:W3CDTF">2026-10-09T05:00:12Z</dcterms:created>
  <dcterms:modified xsi:type="dcterms:W3CDTF">2026-10-09T05:00:12Z</dcterms:modified>
</cp:coreProperties>
</file>